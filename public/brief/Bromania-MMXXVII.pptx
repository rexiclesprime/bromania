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week and the two jobs. Do not start on prices.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Stress: one card, everyone else shows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Locked calls. October is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vs crew. Repeat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week. Pause on Friday 4:30pm and Saturday 4pm.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Karaköy is the neighborhood. First night is not museums.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Hagia Sophia at opening. Fake cistern sites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Scream 4:30pm. 9am is women.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Friendship Bridge closed all of 2027.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dining car. Leave at 4pm.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Bran is the photo. Poenari is the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1,480 steps. Out at 7am.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Sweater in the mine. Peleș afternoon.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$2,236 on the card. $3,000 all-in. Food is Splitwise.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ExtraFly = suitcase. EcoFly often has none.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Passport March 2028. Do not book a second hotel.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K&amp;R: do not buy the policy. Stay together. The van is the real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seven don'ts.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Stop talking.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oenar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B0A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4D4B0"/>
                </a:solidFill>
                <a:latin typeface="Calibri"/>
              </a:rPr>
              <a:t>CREW BRIEFING  ·  FIVE 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>
                <a:solidFill>
                  <a:srgbClr val="F3EEE6"/>
                </a:solidFill>
                <a:latin typeface="Georgia"/>
              </a:rPr>
              <a:t>Project Bromania MMXXVII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3EEE6"/>
                </a:solidFill>
                <a:latin typeface="Calibri"/>
              </a:rPr>
              <a:t>Dulles. Istanbul. A countryside sleeper. Transylvania.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23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4D4B0"/>
                </a:solidFill>
                <a:latin typeface="Georgia"/>
              </a:rPr>
              <a:t>15–25 September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A9288"/>
                </a:solidFill>
                <a:latin typeface="Calibri"/>
              </a:rPr>
              <a:t>THE DEAL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F3EEE6"/>
                </a:solidFill>
                <a:latin typeface="Georgia"/>
              </a:rPr>
              <a:t>What this 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57400"/>
            <a:ext cx="5349240" cy="1554480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21992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3EEE6"/>
                </a:solidFill>
                <a:latin typeface="Georgia"/>
              </a:rPr>
              <a:t>Five of 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24328"/>
            <a:ext cx="49377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9288"/>
                </a:solidFill>
                <a:latin typeface="Calibri"/>
              </a:rPr>
              <a:t>Early forties. Fit. Eleven days, not a long weekend.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057400"/>
            <a:ext cx="5349240" cy="1554480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221992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3EEE6"/>
                </a:solidFill>
                <a:latin typeface="Georgia"/>
              </a:rPr>
              <a:t>Leave Dulles Tuesday night.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624328"/>
            <a:ext cx="49377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9288"/>
                </a:solidFill>
                <a:latin typeface="Calibri"/>
              </a:rPr>
              <a:t>Turkish TK8 at 9:40pm, 14 Sep, if the 2027 timetable still has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813048"/>
            <a:ext cx="5349240" cy="1554480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77639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3EEE6"/>
                </a:solidFill>
                <a:latin typeface="Georgia"/>
              </a:rPr>
              <a:t>Three nights in Karaköy.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379976"/>
            <a:ext cx="49377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9288"/>
                </a:solidFill>
                <a:latin typeface="Calibri"/>
              </a:rPr>
              <a:t>Then a night train. Then Brașov as base. Home from Bucharest on the 25th.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813048"/>
            <a:ext cx="5349240" cy="1554480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3EEE6"/>
                </a:solidFill>
                <a:latin typeface="Georgia"/>
              </a:rPr>
              <a:t>About $3,000 each.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379976"/>
            <a:ext cx="49377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9288"/>
                </a:solidFill>
                <a:latin typeface="Calibri"/>
              </a:rPr>
              <a:t>One guy holds the card for the big stuff. Dinners are Splitwise.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A9288"/>
                </a:solidFill>
                <a:latin typeface="Calibri"/>
              </a:rPr>
              <a:t>ALREADY DECIDED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F3EEE6"/>
                </a:solidFill>
                <a:latin typeface="Georgia"/>
              </a:rPr>
              <a:t>These five things are locked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57400"/>
            <a:ext cx="5349240" cy="1267967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21992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3EEE6"/>
                </a:solidFill>
                <a:latin typeface="Georgia"/>
              </a:rPr>
              <a:t>Dates.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24328"/>
            <a:ext cx="4937759" cy="582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9288"/>
                </a:solidFill>
                <a:latin typeface="Calibri"/>
              </a:rPr>
              <a:t>15–25 Sep 2027. October is off.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057400"/>
            <a:ext cx="5349240" cy="1267967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221992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3EEE6"/>
                </a:solidFill>
                <a:latin typeface="Georgia"/>
              </a:rPr>
              <a:t>The crossing.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624328"/>
            <a:ext cx="4937759" cy="582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9288"/>
                </a:solidFill>
                <a:latin typeface="Calibri"/>
              </a:rPr>
              <a:t>Night train Istanbul to Sofia, then a van into Romania.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526536"/>
            <a:ext cx="5349240" cy="1267967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691127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3EEE6"/>
                </a:solidFill>
                <a:latin typeface="Georgia"/>
              </a:rPr>
              <a:t>Flights.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93464"/>
            <a:ext cx="4937759" cy="582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9288"/>
                </a:solidFill>
                <a:latin typeface="Calibri"/>
              </a:rPr>
              <a:t>Turkish ExtraFly. One booking, five names, one suitcase each. Not EcoFly.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526536"/>
            <a:ext cx="5349240" cy="1267967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691127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3EEE6"/>
                </a:solidFill>
                <a:latin typeface="Georgia"/>
              </a:rPr>
              <a:t>The castle.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093464"/>
            <a:ext cx="4937759" cy="582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9288"/>
                </a:solidFill>
                <a:latin typeface="Calibri"/>
              </a:rPr>
              <a:t>Poenari the day after Bran. 1,480 steps. Vlad actually used this one.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95672"/>
            <a:ext cx="5349240" cy="1267967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160263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3EEE6"/>
                </a:solidFill>
                <a:latin typeface="Georgia"/>
              </a:rPr>
              <a:t>Who books.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562600"/>
            <a:ext cx="4937759" cy="582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9288"/>
                </a:solidFill>
                <a:latin typeface="Calibri"/>
              </a:rPr>
              <a:t>One admin, one card. Everyone else: passport, bag, show 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A9288"/>
                </a:solidFill>
                <a:latin typeface="Calibri"/>
              </a:rPr>
              <a:t>TWO JOBS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F3EEE6"/>
                </a:solidFill>
                <a:latin typeface="Georgia"/>
              </a:rPr>
              <a:t>If you only remember one slide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5394960" cy="4114800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3EEE6"/>
                </a:solidFill>
                <a:latin typeface="Georgia"/>
              </a:rPr>
              <a:t>The admin (one guy, one card)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273552"/>
            <a:ext cx="54864" cy="640080"/>
          </a:xfrm>
          <a:prstGeom prst="rect">
            <a:avLst/>
          </a:prstGeom>
          <a:solidFill>
            <a:srgbClr val="3D5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20040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9288"/>
                </a:solidFill>
                <a:latin typeface="Calibri"/>
              </a:rPr>
              <a:t>Buys flights, two apartments, the night train, both vans, and the tickets that sell out.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187952"/>
            <a:ext cx="54864" cy="640080"/>
          </a:xfrm>
          <a:prstGeom prst="rect">
            <a:avLst/>
          </a:prstGeom>
          <a:solidFill>
            <a:srgbClr val="3D5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11480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9288"/>
                </a:solidFill>
                <a:latin typeface="Calibri"/>
              </a:rPr>
              <a:t>Drops every PDF in the group chat.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5102352"/>
            <a:ext cx="54864" cy="640080"/>
          </a:xfrm>
          <a:prstGeom prst="rect">
            <a:avLst/>
          </a:prstGeom>
          <a:solidFill>
            <a:srgbClr val="3D5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02920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9288"/>
                </a:solidFill>
                <a:latin typeface="Calibri"/>
              </a:rPr>
              <a:t>Does not pay for ten days of dinners.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103120"/>
            <a:ext cx="5394960" cy="4114800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2860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3EEE6"/>
                </a:solidFill>
                <a:latin typeface="Georgia"/>
              </a:rPr>
              <a:t>Everyone else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3273552"/>
            <a:ext cx="54864" cy="640080"/>
          </a:xfrm>
          <a:prstGeom prst="rect">
            <a:avLst/>
          </a:prstGeom>
          <a:solidFill>
            <a:srgbClr val="3D5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320040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9288"/>
                </a:solidFill>
                <a:latin typeface="Calibri"/>
              </a:rPr>
              <a:t>Passport valid through March 2028. One suitcase. Show up when the day says.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4187952"/>
            <a:ext cx="54864" cy="640080"/>
          </a:xfrm>
          <a:prstGeom prst="rect">
            <a:avLst/>
          </a:prstGeom>
          <a:solidFill>
            <a:srgbClr val="3D5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411480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9288"/>
                </a:solidFill>
                <a:latin typeface="Calibri"/>
              </a:rPr>
              <a:t>Pay meals and drinks as you go. Splitwise.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5102352"/>
            <a:ext cx="54864" cy="640080"/>
          </a:xfrm>
          <a:prstGeom prst="rect">
            <a:avLst/>
          </a:prstGeom>
          <a:solidFill>
            <a:srgbClr val="3D5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502920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9288"/>
                </a:solidFill>
                <a:latin typeface="Calibri"/>
              </a:rPr>
              <a:t>Do not book a second hotel, a second taxi, or a Dracula dinner show.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A9288"/>
                </a:solidFill>
                <a:latin typeface="Calibri"/>
              </a:rPr>
              <a:t>THE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F3EEE6"/>
                </a:solidFill>
                <a:latin typeface="Georgia"/>
              </a:rPr>
              <a:t>Read this once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5440680" cy="640080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57984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23A3A"/>
                </a:solidFill>
                <a:latin typeface="Calibri"/>
              </a:rPr>
              <a:t>TUE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215798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3EEE6"/>
                </a:solidFill>
                <a:latin typeface="Calibri"/>
              </a:rPr>
              <a:t>Dulles, 9:40pm. Sleep on the plane.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2011680"/>
            <a:ext cx="5440680" cy="640080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57984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23A3A"/>
                </a:solidFill>
                <a:latin typeface="Calibri"/>
              </a:rPr>
              <a:t>WED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15798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3EEE6"/>
                </a:solidFill>
                <a:latin typeface="Calibri"/>
              </a:rPr>
              <a:t>Land Istanbul. One van. Walk. Dinner. No museums.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743200"/>
            <a:ext cx="5440680" cy="640080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889504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23A3A"/>
                </a:solidFill>
                <a:latin typeface="Calibri"/>
              </a:rPr>
              <a:t>THU 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88950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3EEE6"/>
                </a:solidFill>
                <a:latin typeface="Calibri"/>
              </a:rPr>
              <a:t>Hagia Sophia at opening. Cistern. Long trousers all day.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743200"/>
            <a:ext cx="5440680" cy="640080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889504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23A3A"/>
                </a:solidFill>
                <a:latin typeface="Calibri"/>
              </a:rPr>
              <a:t>FRI 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288950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3EEE6"/>
                </a:solidFill>
                <a:latin typeface="Calibri"/>
              </a:rPr>
              <a:t>Boat in the morning. Turkish bath at 4:30pm — not 9am.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74720"/>
            <a:ext cx="5440680" cy="640080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621024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23A3A"/>
                </a:solidFill>
                <a:latin typeface="Calibri"/>
              </a:rPr>
              <a:t>SAT 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62102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3EEE6"/>
                </a:solidFill>
                <a:latin typeface="Calibri"/>
              </a:rPr>
              <a:t>Buy train food. Leave at 4pm. Night train at 8pm.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474720"/>
            <a:ext cx="5440680" cy="640080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621024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23A3A"/>
                </a:solidFill>
                <a:latin typeface="Calibri"/>
              </a:rPr>
              <a:t>SUN 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362102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3EEE6"/>
                </a:solidFill>
                <a:latin typeface="Calibri"/>
              </a:rPr>
              <a:t>Wake in Sofia. Coffee. Van to Romania. Do not tour Sofia.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206240"/>
            <a:ext cx="5440680" cy="640080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352544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23A3A"/>
                </a:solidFill>
                <a:latin typeface="Calibri"/>
              </a:rPr>
              <a:t>MON 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35254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3EEE6"/>
                </a:solidFill>
                <a:latin typeface="Calibri"/>
              </a:rPr>
              <a:t>Bran (the photo). Râșnov. Brașov town. No cape dinner.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206240"/>
            <a:ext cx="5440680" cy="640080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352544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23A3A"/>
                </a:solidFill>
                <a:latin typeface="Calibri"/>
              </a:rPr>
              <a:t>TUE 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435254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3EEE6"/>
                </a:solidFill>
                <a:latin typeface="Calibri"/>
              </a:rPr>
              <a:t>Poenari. Out at 7am. 1,480 steps. Home before dark.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937760"/>
            <a:ext cx="5440680" cy="640080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084064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23A3A"/>
                </a:solidFill>
                <a:latin typeface="Calibri"/>
              </a:rPr>
              <a:t>WED 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19" y="508406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3EEE6"/>
                </a:solidFill>
                <a:latin typeface="Calibri"/>
              </a:rPr>
              <a:t>Salt mine in the morning. Palace on the way home.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4937760"/>
            <a:ext cx="5440680" cy="640080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5084064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23A3A"/>
                </a:solidFill>
                <a:latin typeface="Calibri"/>
              </a:rPr>
              <a:t>THU 23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43800" y="508406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3EEE6"/>
                </a:solidFill>
                <a:latin typeface="Calibri"/>
              </a:rPr>
              <a:t>Last coffee in Brașov. South to Bucharest.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669280"/>
            <a:ext cx="5440680" cy="640080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815584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23A3A"/>
                </a:solidFill>
                <a:latin typeface="Calibri"/>
              </a:rPr>
              <a:t>FRI 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74519" y="581558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3EEE6"/>
                </a:solidFill>
                <a:latin typeface="Calibri"/>
              </a:rPr>
              <a:t>Old Town dinner. Flight is tomorrow morning.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5669280"/>
            <a:ext cx="5440680" cy="640080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5815584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23A3A"/>
                </a:solidFill>
                <a:latin typeface="Calibri"/>
              </a:rPr>
              <a:t>SAT 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43800" y="581558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3EEE6"/>
                </a:solidFill>
                <a:latin typeface="Calibri"/>
              </a:rPr>
              <a:t>OTP. Same Turkish ticket home.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arako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0"/>
            <a:ext cx="566928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A9288"/>
                </a:solidFill>
                <a:latin typeface="Calibri"/>
              </a:rPr>
              <a:t>ISTANBUL · THREE NIGHTS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5760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3EEE6"/>
                </a:solidFill>
                <a:latin typeface="Georgia"/>
              </a:rPr>
              <a:t>Karaköy, not Sultanahmet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40280"/>
            <a:ext cx="5760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9288"/>
                </a:solidFill>
                <a:latin typeface="Calibri"/>
              </a:rPr>
              <a:t>We live on the nightlife side of the water. A whole apartment if we can get one. First night is not for monuments.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703320"/>
            <a:ext cx="64008" cy="640080"/>
          </a:xfrm>
          <a:prstGeom prst="rect">
            <a:avLst/>
          </a:prstGeom>
          <a:solidFill>
            <a:srgbClr val="B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532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3EEE6"/>
                </a:solidFill>
                <a:latin typeface="Calibri"/>
              </a:rPr>
              <a:t>Wednesday: land, one van, walk Galata, a real meyhane. Curfew 11:30. Jet lag wins.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572000"/>
            <a:ext cx="64008" cy="640080"/>
          </a:xfrm>
          <a:prstGeom prst="rect">
            <a:avLst/>
          </a:prstGeom>
          <a:solidFill>
            <a:srgbClr val="B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26280"/>
            <a:ext cx="5532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3EEE6"/>
                </a:solidFill>
                <a:latin typeface="Calibri"/>
              </a:rPr>
              <a:t>Thursday: the old city once, at opening, then we leave.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440680"/>
            <a:ext cx="64008" cy="640080"/>
          </a:xfrm>
          <a:prstGeom prst="rect">
            <a:avLst/>
          </a:prstGeom>
          <a:solidFill>
            <a:srgbClr val="B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5532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3EEE6"/>
                </a:solidFill>
                <a:latin typeface="Calibri"/>
              </a:rPr>
              <a:t>Friday: the strait, then steam. Pack for the train.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stanbul-hagi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0"/>
            <a:ext cx="566928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A9288"/>
                </a:solidFill>
                <a:latin typeface="Calibri"/>
              </a:rPr>
              <a:t>THURSDAY 16 SEP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5760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3EEE6"/>
                </a:solidFill>
                <a:latin typeface="Georgia"/>
              </a:rPr>
              <a:t>One day in the empire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40280"/>
            <a:ext cx="5760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9288"/>
                </a:solidFill>
                <a:latin typeface="Calibri"/>
              </a:rPr>
              <a:t>Hagia Sophia when it opens. Then the underground cistern. One more museum only if you still have legs.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703320"/>
            <a:ext cx="64008" cy="640080"/>
          </a:xfrm>
          <a:prstGeom prst="rect">
            <a:avLst/>
          </a:prstGeom>
          <a:solidFill>
            <a:srgbClr val="B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532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3EEE6"/>
                </a:solidFill>
                <a:latin typeface="Calibri"/>
              </a:rPr>
              <a:t>Long trousers, shoulders covered. Downstairs by 8am.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572000"/>
            <a:ext cx="64008" cy="640080"/>
          </a:xfrm>
          <a:prstGeom prst="rect">
            <a:avLst/>
          </a:prstGeom>
          <a:solidFill>
            <a:srgbClr val="B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26280"/>
            <a:ext cx="5532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3EEE6"/>
                </a:solidFill>
                <a:latin typeface="Calibri"/>
              </a:rPr>
              <a:t>Gallery ticket is about €25. The museum pass does not work here.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440680"/>
            <a:ext cx="64008" cy="640080"/>
          </a:xfrm>
          <a:prstGeom prst="rect">
            <a:avLst/>
          </a:prstGeom>
          <a:solidFill>
            <a:srgbClr val="B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5532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3EEE6"/>
                </a:solidFill>
                <a:latin typeface="Calibri"/>
              </a:rPr>
              <a:t>Cistern: yerebatan.com or the window. Never a site named basilica-cistern.com.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ala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0"/>
            <a:ext cx="566928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A9288"/>
                </a:solidFill>
                <a:latin typeface="Calibri"/>
              </a:rPr>
              <a:t>FRIDAY 17 SEP · THE ONE PEOPLE GET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5760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3EEE6"/>
                </a:solidFill>
                <a:latin typeface="Georgia"/>
              </a:rPr>
              <a:t>Boat in the morning. Bath at 4:30.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40280"/>
            <a:ext cx="5760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9288"/>
                </a:solidFill>
                <a:latin typeface="Calibri"/>
              </a:rPr>
              <a:t>Men-only hours at Kılıç Ali Paşa are 4:30pm to 11:30pm. Nine in the morning is women’s hours. Do not book 9am.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703320"/>
            <a:ext cx="64008" cy="640080"/>
          </a:xfrm>
          <a:prstGeom prst="rect">
            <a:avLst/>
          </a:prstGeom>
          <a:solidFill>
            <a:srgbClr val="B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532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3EEE6"/>
                </a:solidFill>
                <a:latin typeface="Calibri"/>
              </a:rPr>
              <a:t>10:00 — two hours on the Bosphorus. Public ferry or a private boat. No dinner-cruise with a DJ.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572000"/>
            <a:ext cx="64008" cy="640080"/>
          </a:xfrm>
          <a:prstGeom prst="rect">
            <a:avLst/>
          </a:prstGeom>
          <a:solidFill>
            <a:srgbClr val="B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26280"/>
            <a:ext cx="5532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3EEE6"/>
                </a:solidFill>
                <a:latin typeface="Calibri"/>
              </a:rPr>
              <a:t>16:30 — 16th-century bath, five of you, a very serious man with a mitt. Spare underwear.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440680"/>
            <a:ext cx="64008" cy="640080"/>
          </a:xfrm>
          <a:prstGeom prst="rect">
            <a:avLst/>
          </a:prstGeom>
          <a:solidFill>
            <a:srgbClr val="B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5532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3EEE6"/>
                </a:solidFill>
                <a:latin typeface="Calibri"/>
              </a:rPr>
              <a:t>20:00 — last Karaköy table. Picnic is tomorrow morning, not tonight.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A9288"/>
                </a:solidFill>
                <a:latin typeface="Calibri"/>
              </a:rPr>
              <a:t>THE CROSSING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F3EEE6"/>
                </a:solidFill>
                <a:latin typeface="Georgia"/>
              </a:rPr>
              <a:t>The night train to Bucharest is closed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57400"/>
            <a:ext cx="5349240" cy="1554480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21992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3EEE6"/>
                </a:solidFill>
                <a:latin typeface="Georgia"/>
              </a:rPr>
              <a:t>The bridge is shut.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24328"/>
            <a:ext cx="49377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9288"/>
                </a:solidFill>
                <a:latin typeface="Calibri"/>
              </a:rPr>
              <a:t>Giurgiu–Ruse is closed 5 April to 13 December 2027. That is the only normal train into Bucharest.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057400"/>
            <a:ext cx="5349240" cy="1554480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221992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3EEE6"/>
                </a:solidFill>
                <a:latin typeface="Georgia"/>
              </a:rPr>
              <a:t>Do not buy a 2026 timetable.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624328"/>
            <a:ext cx="49377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9288"/>
                </a:solidFill>
                <a:latin typeface="Calibri"/>
              </a:rPr>
              <a:t>An Istanbul–Bucharest sleeper you saw last year will not exist that week.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813048"/>
            <a:ext cx="5349240" cy="1554480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77639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3EEE6"/>
                </a:solidFill>
                <a:latin typeface="Georgia"/>
              </a:rPr>
              <a:t>Real plan.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379976"/>
            <a:ext cx="49377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9288"/>
                </a:solidFill>
                <a:latin typeface="Calibri"/>
              </a:rPr>
              <a:t>Istanbul–Sofia Express, 8pm from Halkalı. Then a van into Romania.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813048"/>
            <a:ext cx="5349240" cy="1554480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3EEE6"/>
                </a:solidFill>
                <a:latin typeface="Georgia"/>
              </a:rPr>
              <a:t>Backup.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379976"/>
            <a:ext cx="49377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9288"/>
                </a:solidFill>
                <a:latin typeface="Calibri"/>
              </a:rPr>
              <a:t>If the train is sold out: fly Istanbul to Bucharest. Still a trip. Worse story.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eep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0"/>
            <a:ext cx="566928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A9288"/>
                </a:solidFill>
                <a:latin typeface="Calibri"/>
              </a:rPr>
              <a:t>SATURDAY 18 SEP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5760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3EEE6"/>
                </a:solidFill>
                <a:latin typeface="Georgia"/>
              </a:rPr>
              <a:t>The countryside sleeper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40280"/>
            <a:ext cx="5760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9288"/>
                </a:solidFill>
                <a:latin typeface="Calibri"/>
              </a:rPr>
              <a:t>Three small lockable rooms. Two sharing, two sharing, one alone. There is no restaurant on this train. Complimentary snacks are a pretzel and a chocolate.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703320"/>
            <a:ext cx="64008" cy="640080"/>
          </a:xfrm>
          <a:prstGeom prst="rect">
            <a:avLst/>
          </a:prstGeom>
          <a:solidFill>
            <a:srgbClr val="B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532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3EEE6"/>
                </a:solidFill>
                <a:latin typeface="Calibri"/>
              </a:rPr>
              <a:t>Buy food Saturday morning in Karaköy. Cheese, bread, fruit, one bottle. Fridge in the berth.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572000"/>
            <a:ext cx="64008" cy="640080"/>
          </a:xfrm>
          <a:prstGeom prst="rect">
            <a:avLst/>
          </a:prstGeom>
          <a:solidFill>
            <a:srgbClr val="B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26280"/>
            <a:ext cx="5532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3EEE6"/>
                </a:solidFill>
                <a:latin typeface="Calibri"/>
              </a:rPr>
              <a:t>Leave the apartment at 4pm. Halkalı is 45–70 minutes west. The station is not a grocery store.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440680"/>
            <a:ext cx="64008" cy="640080"/>
          </a:xfrm>
          <a:prstGeom prst="rect">
            <a:avLst/>
          </a:prstGeom>
          <a:solidFill>
            <a:srgbClr val="B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5532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3EEE6"/>
                </a:solidFill>
                <a:latin typeface="Calibri"/>
              </a:rPr>
              <a:t>Train at 8pm. Passports in your pocket. Heavier guys get the lower beds.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A9288"/>
                </a:solidFill>
                <a:latin typeface="Calibri"/>
              </a:rPr>
              <a:t>TWO CASTLES · THEY ARE NOT THE SAME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F3EEE6"/>
                </a:solidFill>
                <a:latin typeface="Georgia"/>
              </a:rPr>
              <a:t>Postcard, then the 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57400"/>
            <a:ext cx="5440680" cy="4160520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3EEE6"/>
                </a:solidFill>
                <a:latin typeface="Georgia"/>
              </a:rPr>
              <a:t>Monday · Bran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9288"/>
                </a:solidFill>
                <a:latin typeface="Calibri"/>
              </a:rPr>
              <a:t>The silhouette everyone already has in their head. Weak link to Vlad. You still go, because the photo is the photo.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77639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3EEE6"/>
                </a:solidFill>
                <a:latin typeface="Calibri"/>
              </a:rPr>
              <a:t>·  90 minutes, then leave.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3484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3EEE6"/>
                </a:solidFill>
                <a:latin typeface="Calibri"/>
              </a:rPr>
              <a:t>·  Monday may open at noon — if so, Râșnov first.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9204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3EEE6"/>
                </a:solidFill>
                <a:latin typeface="Calibri"/>
              </a:rPr>
              <a:t>·  Râșnov is the better ruin, ten minutes up the road.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4924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3EEE6"/>
                </a:solidFill>
                <a:latin typeface="Calibri"/>
              </a:rPr>
              <a:t>·  No Dracula dinner show.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057400"/>
            <a:ext cx="5440680" cy="4160520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240280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3EEE6"/>
                </a:solidFill>
                <a:latin typeface="Georgia"/>
              </a:rPr>
              <a:t>Tuesday · Poenari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834640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9288"/>
                </a:solidFill>
                <a:latin typeface="Calibri"/>
              </a:rPr>
              <a:t>Vlad Țepeș rebuilt this citadel in the 1450s. He did not live at Bran. He used this cliff.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977639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3EEE6"/>
                </a:solidFill>
                <a:latin typeface="Calibri"/>
              </a:rPr>
              <a:t>·  1,480 concrete steps. No tram.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43484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3EEE6"/>
                </a:solidFill>
                <a:latin typeface="Calibri"/>
              </a:rPr>
              <a:t>·  Leave Brașov at 7am. Back before dark.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89204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3EEE6"/>
                </a:solidFill>
                <a:latin typeface="Calibri"/>
              </a:rPr>
              <a:t>·  About 30 lei, cash, at the booth.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34924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3EEE6"/>
                </a:solidFill>
                <a:latin typeface="Calibri"/>
              </a:rPr>
              <a:t>·  Do not add the high mountain road.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oenar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0"/>
            <a:ext cx="566928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A9288"/>
                </a:solidFill>
                <a:latin typeface="Calibri"/>
              </a:rPr>
              <a:t>WHY WE CAME TO ROMANIA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5760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3EEE6"/>
                </a:solidFill>
                <a:latin typeface="Georgia"/>
              </a:rPr>
              <a:t>You earn this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40280"/>
            <a:ext cx="5760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9288"/>
                </a:solidFill>
                <a:latin typeface="Calibri"/>
              </a:rPr>
              <a:t>Broken wall, wind, a drop into the Argeș gorge. Forty-five minutes up. At the top: a courtyard the Impaler actually held. Five men in their forties, autumn, nobody selling capes. That is the dude-trip photograph.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703320"/>
            <a:ext cx="64008" cy="640080"/>
          </a:xfrm>
          <a:prstGeom prst="rect">
            <a:avLst/>
          </a:prstGeom>
          <a:solidFill>
            <a:srgbClr val="B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532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3EEE6"/>
                </a:solidFill>
                <a:latin typeface="Calibri"/>
              </a:rPr>
              <a:t>Boots. Water. No racing.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572000"/>
            <a:ext cx="64008" cy="640080"/>
          </a:xfrm>
          <a:prstGeom prst="rect">
            <a:avLst/>
          </a:prstGeom>
          <a:solidFill>
            <a:srgbClr val="B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26280"/>
            <a:ext cx="5532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3EEE6"/>
                </a:solidFill>
                <a:latin typeface="Calibri"/>
              </a:rPr>
              <a:t>The ruin is small. The cliff is the point.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440680"/>
            <a:ext cx="64008" cy="640080"/>
          </a:xfrm>
          <a:prstGeom prst="rect">
            <a:avLst/>
          </a:prstGeom>
          <a:solidFill>
            <a:srgbClr val="B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5532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3EEE6"/>
                </a:solidFill>
                <a:latin typeface="Calibri"/>
              </a:rPr>
              <a:t>Vidraru Dam for lunch. Same road home.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alt-m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0"/>
            <a:ext cx="566928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A9288"/>
                </a:solidFill>
                <a:latin typeface="Calibri"/>
              </a:rPr>
              <a:t>WEDNESDAY 22 SEP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5760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3EEE6"/>
                </a:solidFill>
                <a:latin typeface="Georgia"/>
              </a:rPr>
              <a:t>Under the mountain, then a palace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40280"/>
            <a:ext cx="5760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9288"/>
                </a:solidFill>
                <a:latin typeface="Calibri"/>
              </a:rPr>
              <a:t>A stadium hollowed out of salt, 208 meters down, air at 13°C. Then, on the corridor home, a royal fever dream of carved wood and armor.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703320"/>
            <a:ext cx="64008" cy="640080"/>
          </a:xfrm>
          <a:prstGeom prst="rect">
            <a:avLst/>
          </a:prstGeom>
          <a:solidFill>
            <a:srgbClr val="B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532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3EEE6"/>
                </a:solidFill>
                <a:latin typeface="Calibri"/>
              </a:rPr>
              <a:t>Sweater. Tickets at the mine window, about 60 lei. 90 minutes is enough.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572000"/>
            <a:ext cx="64008" cy="640080"/>
          </a:xfrm>
          <a:prstGeom prst="rect">
            <a:avLst/>
          </a:prstGeom>
          <a:solidFill>
            <a:srgbClr val="B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26280"/>
            <a:ext cx="5532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3EEE6"/>
                </a:solidFill>
                <a:latin typeface="Calibri"/>
              </a:rPr>
              <a:t>Peleș is timed. Book an afternoon slot. Closed Monday and Tuesday.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440680"/>
            <a:ext cx="64008" cy="640080"/>
          </a:xfrm>
          <a:prstGeom prst="rect">
            <a:avLst/>
          </a:prstGeom>
          <a:solidFill>
            <a:srgbClr val="B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5532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3EEE6"/>
                </a:solidFill>
                <a:latin typeface="Calibri"/>
              </a:rPr>
              <a:t>Skip the little castle next door.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A9288"/>
                </a:solidFill>
                <a:latin typeface="Calibri"/>
              </a:rPr>
              <a:t>MONEY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F3EEE6"/>
                </a:solidFill>
                <a:latin typeface="Georgia"/>
              </a:rPr>
              <a:t>What it actually costs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A9288"/>
                </a:solidFill>
                <a:latin typeface="Calibri"/>
              </a:rPr>
              <a:t>ON THE CARD, FIVE OF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3EEE6"/>
                </a:solidFill>
                <a:latin typeface="Georgia"/>
              </a:rPr>
              <a:t>$11,180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20116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A9288"/>
                </a:solidFill>
                <a:latin typeface="Calibri"/>
              </a:rPr>
              <a:t>A HEAD, ON THE 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28600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3EEE6"/>
                </a:solidFill>
                <a:latin typeface="Georgia"/>
              </a:rPr>
              <a:t>$2,236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0116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A9288"/>
                </a:solidFill>
                <a:latin typeface="Calibri"/>
              </a:rPr>
              <a:t>PLAN TO BRING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28600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3EEE6"/>
                </a:solidFill>
                <a:latin typeface="Georgia"/>
              </a:rPr>
              <a:t>$3,000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154680"/>
            <a:ext cx="5440680" cy="594360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8269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9288"/>
                </a:solidFill>
                <a:latin typeface="Calibri"/>
              </a:rPr>
              <a:t>Flights, ExtraFly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246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>
                <a:solidFill>
                  <a:srgbClr val="F3EEE6"/>
                </a:solidFill>
                <a:latin typeface="Georgia"/>
              </a:rPr>
              <a:t>$1,200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154680"/>
            <a:ext cx="5440680" cy="594360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28269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9288"/>
                </a:solidFill>
                <a:latin typeface="Calibri"/>
              </a:rPr>
              <a:t>Two apartments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3246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>
                <a:solidFill>
                  <a:srgbClr val="F3EEE6"/>
                </a:solidFill>
                <a:latin typeface="Georgia"/>
              </a:rPr>
              <a:t>$328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840480"/>
            <a:ext cx="5440680" cy="594360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96849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9288"/>
                </a:solidFill>
                <a:latin typeface="Calibri"/>
              </a:rPr>
              <a:t>Train + two vans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3931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>
                <a:solidFill>
                  <a:srgbClr val="F3EEE6"/>
                </a:solidFill>
                <a:latin typeface="Georgia"/>
              </a:rPr>
              <a:t>$342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840480"/>
            <a:ext cx="5440680" cy="594360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96849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9288"/>
                </a:solidFill>
                <a:latin typeface="Calibri"/>
              </a:rPr>
              <a:t>Tickets you buy ahead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3931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>
                <a:solidFill>
                  <a:srgbClr val="F3EEE6"/>
                </a:solidFill>
                <a:latin typeface="Georgia"/>
              </a:rPr>
              <a:t>$236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526280"/>
            <a:ext cx="5440680" cy="594360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65429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9288"/>
                </a:solidFill>
                <a:latin typeface="Calibri"/>
              </a:rPr>
              <a:t>Insurance + eSIM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46177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>
                <a:solidFill>
                  <a:srgbClr val="F3EEE6"/>
                </a:solidFill>
                <a:latin typeface="Georgia"/>
              </a:rPr>
              <a:t>$130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526280"/>
            <a:ext cx="5440680" cy="594360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465429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9288"/>
                </a:solidFill>
                <a:latin typeface="Calibri"/>
              </a:rPr>
              <a:t>Food and drink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46177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>
                <a:solidFill>
                  <a:srgbClr val="F3EEE6"/>
                </a:solidFill>
                <a:latin typeface="Georgia"/>
              </a:rPr>
              <a:t>~$750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349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9288"/>
                </a:solidFill>
                <a:latin typeface="Calibri"/>
              </a:rPr>
              <a:t>The $2,236 is the card total — flights, beds, train, vans, tickets, insurance. Food is extra, paid on Splitwise. Prices are 2026 guesses for 2027, not a quote. Walk-up cash (Poenari, the mine) is small and not in the card number.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A9288"/>
                </a:solidFill>
                <a:latin typeface="Calibri"/>
              </a:rPr>
              <a:t>BAGS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F3EEE6"/>
                </a:solidFill>
                <a:latin typeface="Georgia"/>
              </a:rPr>
              <a:t>One suitcase. That is the fare.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57400"/>
            <a:ext cx="5349240" cy="1554480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21992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3EEE6"/>
                </a:solidFill>
                <a:latin typeface="Georgia"/>
              </a:rPr>
              <a:t>Buy ExtraFly.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24328"/>
            <a:ext cx="49377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9288"/>
                </a:solidFill>
                <a:latin typeface="Calibri"/>
              </a:rPr>
              <a:t>That is the row that includes a checked suitcase. EcoFly often has none. Q is just the cheap price, not a different plane.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057400"/>
            <a:ext cx="5349240" cy="1554480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221992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3EEE6"/>
                </a:solidFill>
                <a:latin typeface="Georgia"/>
              </a:rPr>
              <a:t>Checked: 23 kg.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624328"/>
            <a:ext cx="49377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9288"/>
                </a:solidFill>
                <a:latin typeface="Calibri"/>
              </a:rPr>
              <a:t>One bag. Over 23 kg is a fee. Over 32 kg they will not take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813048"/>
            <a:ext cx="5349240" cy="1554480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77639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3EEE6"/>
                </a:solidFill>
                <a:latin typeface="Georgia"/>
              </a:rPr>
              <a:t>Cabin: 8 kg.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379976"/>
            <a:ext cx="49377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9288"/>
                </a:solidFill>
                <a:latin typeface="Calibri"/>
              </a:rPr>
              <a:t>55 × 40 × 23 cm. Istanbul weighs this. Pack 7 kg and stop.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813048"/>
            <a:ext cx="5349240" cy="1554480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3EEE6"/>
                </a:solidFill>
                <a:latin typeface="Georgia"/>
              </a:rPr>
              <a:t>Wear the boots onto TK8.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379976"/>
            <a:ext cx="49377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9288"/>
                </a:solidFill>
                <a:latin typeface="Calibri"/>
              </a:rPr>
              <a:t>Long trousers on the plane — mosque morning is the next day.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A9288"/>
                </a:solidFill>
                <a:latin typeface="Calibri"/>
              </a:rPr>
              <a:t>BEFORE WE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F3EEE6"/>
                </a:solidFill>
                <a:latin typeface="Georgia"/>
              </a:rPr>
              <a:t>Your job from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5394960" cy="4114800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3EEE6"/>
                </a:solidFill>
                <a:latin typeface="Georgia"/>
              </a:rPr>
              <a:t>Everyone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273552"/>
            <a:ext cx="54864" cy="640080"/>
          </a:xfrm>
          <a:prstGeom prst="rect">
            <a:avLst/>
          </a:prstGeom>
          <a:solidFill>
            <a:srgbClr val="3D5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20040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9288"/>
                </a:solidFill>
                <a:latin typeface="Calibri"/>
              </a:rPr>
              <a:t>Passport valid through March 2028.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187952"/>
            <a:ext cx="54864" cy="640080"/>
          </a:xfrm>
          <a:prstGeom prst="rect">
            <a:avLst/>
          </a:prstGeom>
          <a:solidFill>
            <a:srgbClr val="3D5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11480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9288"/>
                </a:solidFill>
                <a:latin typeface="Calibri"/>
              </a:rPr>
              <a:t>One suitcase that fits ExtraFly. Boots already walked-in.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5102352"/>
            <a:ext cx="54864" cy="640080"/>
          </a:xfrm>
          <a:prstGeom prst="rect">
            <a:avLst/>
          </a:prstGeom>
          <a:solidFill>
            <a:srgbClr val="3D5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02920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9288"/>
                </a:solidFill>
                <a:latin typeface="Calibri"/>
              </a:rPr>
              <a:t>Splitwise on your phone. Enroll in STEP. Do not book a hotel, a taxi, or a cape dinner.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103120"/>
            <a:ext cx="5394960" cy="4114800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2860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3EEE6"/>
                </a:solidFill>
                <a:latin typeface="Georgia"/>
              </a:rPr>
              <a:t>The admin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3273552"/>
            <a:ext cx="54864" cy="640080"/>
          </a:xfrm>
          <a:prstGeom prst="rect">
            <a:avLst/>
          </a:prstGeom>
          <a:solidFill>
            <a:srgbClr val="3D5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320040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9288"/>
                </a:solidFill>
                <a:latin typeface="Calibri"/>
              </a:rPr>
              <a:t>Flights this year. Apartments this week, refundable.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4187952"/>
            <a:ext cx="54864" cy="640080"/>
          </a:xfrm>
          <a:prstGeom prst="rect">
            <a:avLst/>
          </a:prstGeom>
          <a:solidFill>
            <a:srgbClr val="3D5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411480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9288"/>
                </a:solidFill>
                <a:latin typeface="Calibri"/>
              </a:rPr>
              <a:t>Night train about eight weeks out (July 2027). Vans after that.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5102352"/>
            <a:ext cx="54864" cy="640080"/>
          </a:xfrm>
          <a:prstGeom prst="rect">
            <a:avLst/>
          </a:prstGeom>
          <a:solidFill>
            <a:srgbClr val="3D5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502920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9288"/>
                </a:solidFill>
                <a:latin typeface="Calibri"/>
              </a:rPr>
              <a:t>Bath, Hagia Sophia, cistern, Bran, Peleș — two to four weeks before we fly.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A9288"/>
                </a:solidFill>
                <a:latin typeface="Calibri"/>
              </a:rP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F3EEE6"/>
                </a:solidFill>
                <a:latin typeface="Georgia"/>
              </a:rPr>
              <a:t>Kidnap and ransom: the honest call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57400"/>
            <a:ext cx="5349240" cy="1554480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21992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3EEE6"/>
                </a:solidFill>
                <a:latin typeface="Georgia"/>
              </a:rPr>
              <a:t>You do not need a K&amp;R policy.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24328"/>
            <a:ext cx="49377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9288"/>
                </a:solidFill>
                <a:latin typeface="Calibri"/>
              </a:rPr>
              <a:t>Classic kidnap-for-ransom is executives in Mexico or Nigeria, or the Syria border. You are five guys in Karaköy and Brașov. Neither country has a State Department kidnapping flag.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057400"/>
            <a:ext cx="5349240" cy="1554480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221992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3EEE6"/>
                </a:solidFill>
                <a:latin typeface="Georgia"/>
              </a:rPr>
              <a:t>Türkiye is Level 2. Romania is Level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624328"/>
            <a:ext cx="49377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9288"/>
                </a:solidFill>
                <a:latin typeface="Calibri"/>
              </a:rPr>
              <a:t>Istanbul: terrorism and arbitrary detention, not ransom. Do not photograph police. Romania is normal-precautions country. Brașov is quiet.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813048"/>
            <a:ext cx="5349240" cy="1554480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77639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3EEE6"/>
                </a:solidFill>
                <a:latin typeface="Georgia"/>
              </a:rPr>
              <a:t>The fake version is the one that gets tourists.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379976"/>
            <a:ext cx="49377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9288"/>
                </a:solidFill>
                <a:latin typeface="Calibri"/>
              </a:rPr>
              <a:t>Unmarked taxi, fake police, a nightclub that will not let you leave. Stay together after dark. One van. Nobody walks home alone.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813048"/>
            <a:ext cx="5349240" cy="1554480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3EEE6"/>
                </a:solidFill>
                <a:latin typeface="Georgia"/>
              </a:rPr>
              <a:t>What actually hurts people on a trip like this.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379976"/>
            <a:ext cx="49377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9288"/>
                </a:solidFill>
                <a:latin typeface="Calibri"/>
              </a:rPr>
              <a:t>The van on the gorge road. A snatched phone. A padded bar bill. Buy medical and evacuation insurance. Rank worry in that order.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A9288"/>
                </a:solidFill>
                <a:latin typeface="Calibri"/>
              </a:rPr>
              <a:t>HOUSE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F3EEE6"/>
                </a:solidFill>
                <a:latin typeface="Georgia"/>
              </a:rPr>
              <a:t>Do not be the guy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57400"/>
            <a:ext cx="10881360" cy="566928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6712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23A3A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16712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EEE6"/>
                </a:solidFill>
                <a:latin typeface="Calibri"/>
              </a:rPr>
              <a:t>Do not be late for 4pm Saturday.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881360" cy="566928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0720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23A3A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80720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EEE6"/>
                </a:solidFill>
                <a:latin typeface="Calibri"/>
              </a:rPr>
              <a:t>Do not book the bath at 9am.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37560"/>
            <a:ext cx="10881360" cy="566928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472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23A3A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44728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EEE6"/>
                </a:solidFill>
                <a:latin typeface="Calibri"/>
              </a:rPr>
              <a:t>Do not buy EcoFly.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977640"/>
            <a:ext cx="10881360" cy="566928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08736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23A3A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087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EEE6"/>
                </a:solidFill>
                <a:latin typeface="Calibri"/>
              </a:rPr>
              <a:t>Do not race the 1,480 steps.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617720"/>
            <a:ext cx="10881360" cy="566928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72744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23A3A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72744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EEE6"/>
                </a:solidFill>
                <a:latin typeface="Calibri"/>
              </a:rPr>
              <a:t>Do not add the high mountain road the day of Poenari.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257800"/>
            <a:ext cx="10881360" cy="566928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36752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23A3A"/>
                </a:solidFill>
                <a:latin typeface="Calibr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36752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EEE6"/>
                </a:solidFill>
                <a:latin typeface="Calibri"/>
              </a:rPr>
              <a:t>Do not book a second hotel or a Dracula show.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897880"/>
            <a:ext cx="10881360" cy="566928"/>
          </a:xfrm>
          <a:prstGeom prst="rect">
            <a:avLst/>
          </a:prstGeom>
          <a:solidFill>
            <a:srgbClr val="1C1916"/>
          </a:solidFill>
          <a:ln w="12700">
            <a:solidFill>
              <a:srgbClr val="3A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00760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23A3A"/>
                </a:solidFill>
                <a:latin typeface="Calibri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600760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EEE6"/>
                </a:solidFill>
                <a:latin typeface="Calibri"/>
              </a:rPr>
              <a:t>Show up. That is the whole job.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ran-clif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B0A">
              <a:alpha val="57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4D4B0"/>
                </a:solidFill>
                <a:latin typeface="Calibri"/>
              </a:rPr>
              <a:t>PROJECT BROMANIA MMXXVII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5468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3EEE6"/>
                </a:solidFill>
                <a:latin typeface="Georgia"/>
              </a:rPr>
              <a:t>The postcard is Bran. The story is Poenari. The night is the train.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4D4B0"/>
                </a:solidFill>
                <a:latin typeface="Calibri"/>
              </a:rPr>
              <a:t>Questions. Then we book.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